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Bold" charset="1" panose="00000800000000000000"/>
      <p:regular r:id="rId17"/>
    </p:embeddedFont>
    <p:embeddedFont>
      <p:font typeface="Telegraf" charset="1" panose="000005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Aslesha584/VMN-TDMA-Optimizer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https://github.com/Aslesha584/VMN-TDMA-Optimizer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16069" y="0"/>
            <a:ext cx="11875513" cy="10841736"/>
            <a:chOff x="0" y="0"/>
            <a:chExt cx="686988" cy="627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6988" cy="627185"/>
            </a:xfrm>
            <a:custGeom>
              <a:avLst/>
              <a:gdLst/>
              <a:ahLst/>
              <a:cxnLst/>
              <a:rect r="r" b="b" t="t" l="l"/>
              <a:pathLst>
                <a:path h="627185" w="686988">
                  <a:moveTo>
                    <a:pt x="203200" y="0"/>
                  </a:moveTo>
                  <a:lnTo>
                    <a:pt x="686988" y="0"/>
                  </a:lnTo>
                  <a:lnTo>
                    <a:pt x="483788" y="627185"/>
                  </a:lnTo>
                  <a:lnTo>
                    <a:pt x="0" y="62718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31371" t="0" r="-313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93102" y="-312319"/>
            <a:ext cx="18674204" cy="4634369"/>
            <a:chOff x="0" y="0"/>
            <a:chExt cx="4918309" cy="12205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8309" cy="1220574"/>
            </a:xfrm>
            <a:custGeom>
              <a:avLst/>
              <a:gdLst/>
              <a:ahLst/>
              <a:cxnLst/>
              <a:rect r="r" b="b" t="t" l="l"/>
              <a:pathLst>
                <a:path h="1220574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220574"/>
                  </a:lnTo>
                  <a:lnTo>
                    <a:pt x="0" y="1220574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918309" cy="1211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054681">
            <a:off x="10456373" y="-512962"/>
            <a:ext cx="476391" cy="11675289"/>
            <a:chOff x="0" y="0"/>
            <a:chExt cx="125469" cy="30749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69" cy="3074973"/>
            </a:xfrm>
            <a:custGeom>
              <a:avLst/>
              <a:gdLst/>
              <a:ahLst/>
              <a:cxnLst/>
              <a:rect r="r" b="b" t="t" l="l"/>
              <a:pathLst>
                <a:path h="3074973" w="125469">
                  <a:moveTo>
                    <a:pt x="0" y="0"/>
                  </a:moveTo>
                  <a:lnTo>
                    <a:pt x="125469" y="0"/>
                  </a:lnTo>
                  <a:lnTo>
                    <a:pt x="125469" y="3074973"/>
                  </a:lnTo>
                  <a:lnTo>
                    <a:pt x="0" y="3074973"/>
                  </a:lnTo>
                  <a:close/>
                </a:path>
              </a:pathLst>
            </a:custGeom>
            <a:solidFill>
              <a:srgbClr val="4DD8FF">
                <a:alpha val="6274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25469" cy="3065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523963" y="7518952"/>
            <a:ext cx="18354474" cy="3935076"/>
            <a:chOff x="0" y="0"/>
            <a:chExt cx="2843373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3373" cy="609600"/>
            </a:xfrm>
            <a:custGeom>
              <a:avLst/>
              <a:gdLst/>
              <a:ahLst/>
              <a:cxnLst/>
              <a:rect r="r" b="b" t="t" l="l"/>
              <a:pathLst>
                <a:path h="609600" w="2843373">
                  <a:moveTo>
                    <a:pt x="26401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843373" y="609600"/>
                  </a:lnTo>
                  <a:lnTo>
                    <a:pt x="2640173" y="0"/>
                  </a:lnTo>
                  <a:close/>
                </a:path>
              </a:pathLst>
            </a:custGeom>
            <a:solidFill>
              <a:srgbClr val="0B262E"/>
            </a:solidFill>
            <a:ln w="180975" cap="sq">
              <a:solidFill>
                <a:srgbClr val="4DD8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9525"/>
              <a:ext cx="2640173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158377" y="8616440"/>
            <a:ext cx="601760" cy="601760"/>
          </a:xfrm>
          <a:custGeom>
            <a:avLst/>
            <a:gdLst/>
            <a:ahLst/>
            <a:cxnLst/>
            <a:rect r="r" b="b" t="t" l="l"/>
            <a:pathLst>
              <a:path h="601760" w="601760">
                <a:moveTo>
                  <a:pt x="0" y="0"/>
                </a:moveTo>
                <a:lnTo>
                  <a:pt x="601760" y="0"/>
                </a:lnTo>
                <a:lnTo>
                  <a:pt x="601760" y="601760"/>
                </a:lnTo>
                <a:lnTo>
                  <a:pt x="0" y="60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567642"/>
            <a:ext cx="495480" cy="495480"/>
          </a:xfrm>
          <a:custGeom>
            <a:avLst/>
            <a:gdLst/>
            <a:ahLst/>
            <a:cxnLst/>
            <a:rect r="r" b="b" t="t" l="l"/>
            <a:pathLst>
              <a:path h="495480" w="495480">
                <a:moveTo>
                  <a:pt x="0" y="0"/>
                </a:moveTo>
                <a:lnTo>
                  <a:pt x="495480" y="0"/>
                </a:lnTo>
                <a:lnTo>
                  <a:pt x="495480" y="495480"/>
                </a:lnTo>
                <a:lnTo>
                  <a:pt x="0" y="495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8112" y="8513371"/>
            <a:ext cx="841176" cy="841176"/>
          </a:xfrm>
          <a:custGeom>
            <a:avLst/>
            <a:gdLst/>
            <a:ahLst/>
            <a:cxnLst/>
            <a:rect r="r" b="b" t="t" l="l"/>
            <a:pathLst>
              <a:path h="841176" w="841176">
                <a:moveTo>
                  <a:pt x="0" y="0"/>
                </a:moveTo>
                <a:lnTo>
                  <a:pt x="841176" y="0"/>
                </a:lnTo>
                <a:lnTo>
                  <a:pt x="841176" y="841176"/>
                </a:lnTo>
                <a:lnTo>
                  <a:pt x="0" y="841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47554"/>
            <a:ext cx="12948973" cy="262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1"/>
              </a:lnSpc>
            </a:pPr>
            <a:r>
              <a:rPr lang="en-US" sz="9605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VMN TDMA Schedule Plann</a:t>
            </a:r>
            <a:r>
              <a:rPr lang="en-US" b="true" sz="960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er &amp; Optimizer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6165" y="5418514"/>
            <a:ext cx="6362836" cy="178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Aslesha M</a:t>
            </a:r>
          </a:p>
          <a:p>
            <a:pPr algn="l">
              <a:lnSpc>
                <a:spcPts val="3434"/>
              </a:lnSpc>
            </a:pPr>
          </a:p>
          <a:p>
            <a:pPr algn="l">
              <a:lnSpc>
                <a:spcPts val="3434"/>
              </a:lnSpc>
            </a:pPr>
            <a:r>
              <a:rPr lang="en-US" sz="3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B.E. Computer &amp; Communication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11168" y="8642896"/>
            <a:ext cx="3553491" cy="29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91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Website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7042" y="8626257"/>
            <a:ext cx="3757526" cy="29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91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Email 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11168" y="8943484"/>
            <a:ext cx="3928703" cy="59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b="true" sz="2199" u="sng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  <a:hlinkClick r:id="rId10" tooltip="https://github.com/Aslesha584/VMN-TDMA-Optimizer"/>
              </a:rPr>
              <a:t>https://github.com/Aslesha584/VMN-TDMA-Optimizer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37042" y="8926845"/>
            <a:ext cx="4945698" cy="31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1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sit24co004@sairamtap.edu.in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1561" y="562925"/>
            <a:ext cx="7399258" cy="181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03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 1 — Centralized Schedule Optimizer</a:t>
            </a:r>
          </a:p>
          <a:p>
            <a:pPr algn="l">
              <a:lnSpc>
                <a:spcPts val="3644"/>
              </a:lnSpc>
            </a:pPr>
            <a:r>
              <a:rPr lang="en-US" sz="2603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+ NetworkX</a:t>
            </a:r>
          </a:p>
          <a:p>
            <a:pPr algn="l">
              <a:lnSpc>
                <a:spcPts val="3644"/>
              </a:lnSpc>
            </a:pPr>
          </a:p>
          <a:p>
            <a:pPr algn="l">
              <a:lnSpc>
                <a:spcPts val="36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9952" y="5255500"/>
            <a:ext cx="17283424" cy="4391798"/>
            <a:chOff x="0" y="0"/>
            <a:chExt cx="4552013" cy="1156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013" cy="1156688"/>
            </a:xfrm>
            <a:custGeom>
              <a:avLst/>
              <a:gdLst/>
              <a:ahLst/>
              <a:cxnLst/>
              <a:rect r="r" b="b" t="t" l="l"/>
              <a:pathLst>
                <a:path h="1156688" w="4552013">
                  <a:moveTo>
                    <a:pt x="0" y="0"/>
                  </a:moveTo>
                  <a:lnTo>
                    <a:pt x="4552013" y="0"/>
                  </a:lnTo>
                  <a:lnTo>
                    <a:pt x="4552013" y="1156688"/>
                  </a:lnTo>
                  <a:lnTo>
                    <a:pt x="0" y="1156688"/>
                  </a:lnTo>
                  <a:close/>
                </a:path>
              </a:pathLst>
            </a:custGeom>
            <a:solidFill>
              <a:srgbClr val="4DD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52013" cy="1147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3102" y="-348691"/>
            <a:ext cx="18674204" cy="4634369"/>
            <a:chOff x="0" y="0"/>
            <a:chExt cx="4918309" cy="12205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8309" cy="1220574"/>
            </a:xfrm>
            <a:custGeom>
              <a:avLst/>
              <a:gdLst/>
              <a:ahLst/>
              <a:cxnLst/>
              <a:rect r="r" b="b" t="t" l="l"/>
              <a:pathLst>
                <a:path h="1220574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220574"/>
                  </a:lnTo>
                  <a:lnTo>
                    <a:pt x="0" y="1220574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918309" cy="1211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479491" y="3743044"/>
            <a:ext cx="11808509" cy="5904255"/>
          </a:xfrm>
          <a:custGeom>
            <a:avLst/>
            <a:gdLst/>
            <a:ahLst/>
            <a:cxnLst/>
            <a:rect r="r" b="b" t="t" l="l"/>
            <a:pathLst>
              <a:path h="5904255" w="11808509">
                <a:moveTo>
                  <a:pt x="0" y="0"/>
                </a:moveTo>
                <a:lnTo>
                  <a:pt x="11808509" y="0"/>
                </a:lnTo>
                <a:lnTo>
                  <a:pt x="11808509" y="5904254"/>
                </a:lnTo>
                <a:lnTo>
                  <a:pt x="0" y="5904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8486" y="858692"/>
            <a:ext cx="10997501" cy="110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P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96539"/>
            <a:ext cx="10407287" cy="68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Design a centralized TDMA scheduler that assigns transmission slots to network nodes while avoiding direct and two-hop interference.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486" y="5549894"/>
            <a:ext cx="10407287" cy="295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Key Requi</a:t>
            </a: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rements</a:t>
            </a:r>
          </a:p>
          <a:p>
            <a:pPr algn="l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Communication range: 500 meters</a:t>
            </a:r>
          </a:p>
          <a:p>
            <a:pPr algn="l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Avoid direct-link conflicts</a:t>
            </a:r>
          </a:p>
          <a:p>
            <a:pPr algn="l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Avoid two-hop conflicts</a:t>
            </a:r>
          </a:p>
          <a:p>
            <a:pPr algn="l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Enable spatial reuse</a:t>
            </a:r>
          </a:p>
          <a:p>
            <a:pPr algn="l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Minimize the number of TDMA slots</a:t>
            </a:r>
          </a:p>
          <a:p>
            <a:pPr algn="l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Verify the final schedule</a:t>
            </a:r>
          </a:p>
          <a:p>
            <a:pPr algn="l">
              <a:lnSpc>
                <a:spcPts val="2622"/>
              </a:lnSpc>
            </a:pPr>
          </a:p>
          <a:p>
            <a:pPr algn="l">
              <a:lnSpc>
                <a:spcPts val="262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102" y="-1842148"/>
            <a:ext cx="18674204" cy="6164198"/>
            <a:chOff x="0" y="0"/>
            <a:chExt cx="4918309" cy="1623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68148" y="2437355"/>
            <a:ext cx="11622856" cy="758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ode Coordinates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Input Validation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Communication Graph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Distance-2 Conflict Graph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Greedy Graph Coloring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TDMA Schedule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Verification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↓</a:t>
            </a:r>
          </a:p>
          <a:p>
            <a:pPr algn="l">
              <a:lnSpc>
                <a:spcPts val="4073"/>
              </a:lnSpc>
            </a:pPr>
            <a:r>
              <a:rPr lang="en-US" sz="357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Final Schedule Matrix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3603" y="785613"/>
            <a:ext cx="9807401" cy="95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998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</a:t>
            </a:r>
            <a:r>
              <a:rPr lang="en-US" b="true" sz="5998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49853" y="7160052"/>
            <a:ext cx="5609447" cy="141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3208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Goal: </a:t>
            </a:r>
            <a:r>
              <a:rPr lang="en-US" b="true" sz="3208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Conflict-free scheduling with maximum spatial reuse.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102" y="-1842148"/>
            <a:ext cx="18674204" cy="6164198"/>
            <a:chOff x="0" y="0"/>
            <a:chExt cx="4918309" cy="1623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02374"/>
            <a:ext cx="16031595" cy="110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Communicati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&amp; Conflict Graph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74667"/>
            <a:ext cx="8666063" cy="2761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32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32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ommunication Graph</a:t>
            </a:r>
          </a:p>
          <a:p>
            <a:pPr algn="l" marL="694684" indent="-347342" lvl="1">
              <a:lnSpc>
                <a:spcPts val="3668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Nodes connected when distance ≤ 500 m</a:t>
            </a:r>
          </a:p>
          <a:p>
            <a:pPr algn="l" marL="694684" indent="-347342" lvl="1">
              <a:lnSpc>
                <a:spcPts val="3668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Represents direct communication links</a:t>
            </a:r>
          </a:p>
          <a:p>
            <a:pPr algn="l" marL="694684" indent="-347342" lvl="1">
              <a:lnSpc>
                <a:spcPts val="3668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16 nodes</a:t>
            </a:r>
          </a:p>
          <a:p>
            <a:pPr algn="l" marL="694684" indent="-347342" lvl="1">
              <a:lnSpc>
                <a:spcPts val="3668"/>
              </a:lnSpc>
              <a:buFont typeface="Arial"/>
              <a:buChar char="•"/>
            </a:pPr>
            <a:r>
              <a:rPr lang="en-US" sz="321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31 communication links</a:t>
            </a:r>
          </a:p>
          <a:p>
            <a:pPr algn="l">
              <a:lnSpc>
                <a:spcPts val="366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39312"/>
            <a:ext cx="8414635" cy="64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4099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</a:t>
            </a:r>
            <a:r>
              <a:rPr lang="en-US" b="true" sz="40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 Network to Conflict Graph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75728" y="2388798"/>
            <a:ext cx="8436850" cy="8401038"/>
            <a:chOff x="0" y="0"/>
            <a:chExt cx="2222051" cy="22126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2051" cy="2212619"/>
            </a:xfrm>
            <a:custGeom>
              <a:avLst/>
              <a:gdLst/>
              <a:ahLst/>
              <a:cxnLst/>
              <a:rect r="r" b="b" t="t" l="l"/>
              <a:pathLst>
                <a:path h="2212619" w="2222051">
                  <a:moveTo>
                    <a:pt x="0" y="0"/>
                  </a:moveTo>
                  <a:lnTo>
                    <a:pt x="2222051" y="0"/>
                  </a:lnTo>
                  <a:lnTo>
                    <a:pt x="2222051" y="2212619"/>
                  </a:lnTo>
                  <a:lnTo>
                    <a:pt x="0" y="2212619"/>
                  </a:lnTo>
                  <a:close/>
                </a:path>
              </a:pathLst>
            </a:custGeom>
            <a:solidFill>
              <a:srgbClr val="4DD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222051" cy="2203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672605" y="3139312"/>
            <a:ext cx="5899372" cy="36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30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Distance-2 Conflic</a:t>
            </a:r>
            <a:r>
              <a:rPr lang="en-US" sz="30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 Graph</a:t>
            </a:r>
          </a:p>
          <a:p>
            <a:pPr algn="l" marL="669288" indent="-334644" lvl="1">
              <a:lnSpc>
                <a:spcPts val="3533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Directly connected nodes cannot share a slot</a:t>
            </a:r>
          </a:p>
          <a:p>
            <a:pPr algn="l" marL="669288" indent="-334644" lvl="1">
              <a:lnSpc>
                <a:spcPts val="3533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Nodes sharing a common neighbor cannot share a slot</a:t>
            </a:r>
          </a:p>
          <a:p>
            <a:pPr algn="l" marL="669288" indent="-334644" lvl="1">
              <a:lnSpc>
                <a:spcPts val="3533"/>
              </a:lnSpc>
              <a:buFont typeface="Arial"/>
              <a:buChar char="•"/>
            </a:pPr>
            <a:r>
              <a:rPr lang="en-US" b="true" sz="30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59 conflict links</a:t>
            </a:r>
          </a:p>
          <a:p>
            <a:pPr algn="l">
              <a:lnSpc>
                <a:spcPts val="353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0991" y="-897696"/>
            <a:ext cx="3497580" cy="11769716"/>
            <a:chOff x="0" y="0"/>
            <a:chExt cx="406400" cy="13675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1367578"/>
            </a:xfrm>
            <a:custGeom>
              <a:avLst/>
              <a:gdLst/>
              <a:ahLst/>
              <a:cxnLst/>
              <a:rect r="r" b="b" t="t" l="l"/>
              <a:pathLst>
                <a:path h="1367578" w="406400">
                  <a:moveTo>
                    <a:pt x="203200" y="1367578"/>
                  </a:moveTo>
                  <a:lnTo>
                    <a:pt x="203200" y="1367578"/>
                  </a:lnTo>
                  <a:lnTo>
                    <a:pt x="406400" y="0"/>
                  </a:lnTo>
                  <a:lnTo>
                    <a:pt x="0" y="0"/>
                  </a:lnTo>
                  <a:lnTo>
                    <a:pt x="203200" y="1367578"/>
                  </a:lnTo>
                  <a:close/>
                </a:path>
              </a:pathLst>
            </a:custGeom>
            <a:solidFill>
              <a:srgbClr val="4DD8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3102" y="-1842148"/>
            <a:ext cx="18674204" cy="5241239"/>
            <a:chOff x="0" y="0"/>
            <a:chExt cx="4918309" cy="1380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18309" cy="1380409"/>
            </a:xfrm>
            <a:custGeom>
              <a:avLst/>
              <a:gdLst/>
              <a:ahLst/>
              <a:cxnLst/>
              <a:rect r="r" b="b" t="t" l="l"/>
              <a:pathLst>
                <a:path h="1380409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380409"/>
                  </a:lnTo>
                  <a:lnTo>
                    <a:pt x="0" y="1380409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918309" cy="1370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09650" y="727041"/>
            <a:ext cx="6521867" cy="209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Scheduling Alg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192" y="5053424"/>
            <a:ext cx="7367908" cy="255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Network                                       Graph Coloring</a:t>
            </a:r>
          </a:p>
          <a:p>
            <a:pPr algn="l">
              <a:lnSpc>
                <a:spcPts val="3305"/>
              </a:lnSpc>
            </a:pPr>
          </a:p>
          <a:p>
            <a:pPr algn="l">
              <a:lnSpc>
                <a:spcPts val="3305"/>
              </a:lnSpc>
            </a:pPr>
            <a:r>
              <a:rPr lang="en-US" sz="2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Node                                              Vertex</a:t>
            </a:r>
          </a:p>
          <a:p>
            <a:pPr algn="l">
              <a:lnSpc>
                <a:spcPts val="3305"/>
              </a:lnSpc>
            </a:pPr>
            <a:r>
              <a:rPr lang="en-US" sz="2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Interference                               Edge</a:t>
            </a:r>
          </a:p>
          <a:p>
            <a:pPr algn="l">
              <a:lnSpc>
                <a:spcPts val="3305"/>
              </a:lnSpc>
            </a:pPr>
            <a:r>
              <a:rPr lang="en-US" sz="2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TDMA Slot                                   Color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208971" y="3380041"/>
            <a:ext cx="4428748" cy="290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32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32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trategies Evaluated</a:t>
            </a:r>
          </a:p>
          <a:p>
            <a:pPr algn="l" marL="712465" indent="-356233" lvl="1">
              <a:lnSpc>
                <a:spcPts val="3761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Largest First</a:t>
            </a:r>
          </a:p>
          <a:p>
            <a:pPr algn="l" marL="712465" indent="-356233" lvl="1">
              <a:lnSpc>
                <a:spcPts val="3761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Smallest Last</a:t>
            </a:r>
          </a:p>
          <a:p>
            <a:pPr algn="l" marL="712465" indent="-356233" lvl="1">
              <a:lnSpc>
                <a:spcPts val="3761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Saturation Largest First</a:t>
            </a:r>
          </a:p>
          <a:p>
            <a:pPr algn="l">
              <a:lnSpc>
                <a:spcPts val="37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3488" y="3231884"/>
            <a:ext cx="7248104" cy="111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699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TDMA Sched</a:t>
            </a:r>
            <a:r>
              <a:rPr lang="en-US" b="true" sz="36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uling using Graph Coloring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53846" y="6768686"/>
            <a:ext cx="3245843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799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</a:t>
            </a:r>
            <a:r>
              <a:rPr lang="en-US" b="true" sz="27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lected Strategy: largest_first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102" y="-1842148"/>
            <a:ext cx="18674204" cy="6164198"/>
            <a:chOff x="0" y="0"/>
            <a:chExt cx="4918309" cy="1623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26359" y="-341243"/>
            <a:ext cx="12325141" cy="5321807"/>
            <a:chOff x="0" y="0"/>
            <a:chExt cx="1452541" cy="627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2541" cy="627185"/>
            </a:xfrm>
            <a:custGeom>
              <a:avLst/>
              <a:gdLst/>
              <a:ahLst/>
              <a:cxnLst/>
              <a:rect r="r" b="b" t="t" l="l"/>
              <a:pathLst>
                <a:path h="627185" w="1452541">
                  <a:moveTo>
                    <a:pt x="203200" y="0"/>
                  </a:moveTo>
                  <a:lnTo>
                    <a:pt x="1452541" y="0"/>
                  </a:lnTo>
                  <a:lnTo>
                    <a:pt x="1249341" y="627185"/>
                  </a:lnTo>
                  <a:lnTo>
                    <a:pt x="0" y="62718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53211" r="0" b="-1186"/>
              </a:stretch>
            </a:blipFill>
            <a:ln w="276225" cap="sq">
              <a:solidFill>
                <a:srgbClr val="4DD8F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737433" y="1519769"/>
            <a:ext cx="6521867" cy="209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inal TDMA Schedule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577" y="5549012"/>
            <a:ext cx="11801348" cy="428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lot                                              Nodes</a:t>
            </a:r>
          </a:p>
          <a:p>
            <a:pPr algn="l">
              <a:lnSpc>
                <a:spcPts val="3437"/>
              </a:lnSpc>
            </a:pPr>
          </a:p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1                                           Node_01, Node_06, Node_12</a:t>
            </a:r>
          </a:p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2                                          Node_07, Node_14</a:t>
            </a:r>
          </a:p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3                                          Node_02, Node_08, Node_13</a:t>
            </a:r>
          </a:p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4                                          Node_03, Node_09, Node_16</a:t>
            </a:r>
          </a:p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5                                          Node_04, Node_10, Node_15</a:t>
            </a:r>
          </a:p>
          <a:p>
            <a:pPr algn="l">
              <a:lnSpc>
                <a:spcPts val="3437"/>
              </a:lnSpc>
            </a:pPr>
            <a:r>
              <a:rPr lang="en-US" sz="301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6                                          Node_05, Node_11</a:t>
            </a:r>
          </a:p>
          <a:p>
            <a:pPr algn="l">
              <a:lnSpc>
                <a:spcPts val="3437"/>
              </a:lnSpc>
            </a:pPr>
          </a:p>
          <a:p>
            <a:pPr algn="l">
              <a:lnSpc>
                <a:spcPts val="343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002603" y="7072496"/>
            <a:ext cx="6876003" cy="141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647"/>
              </a:lnSpc>
              <a:buFont typeface="Arial"/>
              <a:buChar char="•"/>
            </a:pPr>
            <a:r>
              <a:rPr lang="en-US" b="true" sz="31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16 Nodes → 6 TDMA </a:t>
            </a:r>
            <a:r>
              <a:rPr lang="en-US" b="true" sz="31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Slots</a:t>
            </a:r>
          </a:p>
          <a:p>
            <a:pPr algn="l" marL="690877" indent="-345439" lvl="1">
              <a:lnSpc>
                <a:spcPts val="3647"/>
              </a:lnSpc>
              <a:buFont typeface="Arial"/>
              <a:buChar char="•"/>
            </a:pPr>
            <a:r>
              <a:rPr lang="en-US" b="true" sz="31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Average: 2.67 nodes/slot</a:t>
            </a:r>
          </a:p>
          <a:p>
            <a:pPr algn="l">
              <a:lnSpc>
                <a:spcPts val="364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55790" y="-1924629"/>
            <a:ext cx="14786893" cy="5906659"/>
            <a:chOff x="0" y="0"/>
            <a:chExt cx="152609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6090" cy="609600"/>
            </a:xfrm>
            <a:custGeom>
              <a:avLst/>
              <a:gdLst/>
              <a:ahLst/>
              <a:cxnLst/>
              <a:rect r="r" b="b" t="t" l="l"/>
              <a:pathLst>
                <a:path h="609600" w="1526090">
                  <a:moveTo>
                    <a:pt x="132289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526090" y="609600"/>
                  </a:lnTo>
                  <a:lnTo>
                    <a:pt x="1322890" y="0"/>
                  </a:lnTo>
                  <a:close/>
                </a:path>
              </a:pathLst>
            </a:custGeom>
            <a:blipFill>
              <a:blip r:embed="rId2"/>
              <a:stretch>
                <a:fillRect l="-4791" t="-83231" r="-4791" b="0"/>
              </a:stretch>
            </a:blipFill>
            <a:ln w="257175" cap="sq">
              <a:solidFill>
                <a:srgbClr val="4DD8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67738" y="-2434041"/>
            <a:ext cx="18674204" cy="6164198"/>
            <a:chOff x="0" y="0"/>
            <a:chExt cx="4918309" cy="1623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635114"/>
            <a:ext cx="8397927" cy="209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TDMA Schedule Ma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73691"/>
            <a:ext cx="13340491" cy="302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</a:t>
            </a: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         01   02   03   04   05   06   07   08   09   10   11   12   13   14   15   16</a:t>
            </a:r>
          </a:p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1     1      0      0       0      0      1      0     0      0     0     0     1     0     0     0     0</a:t>
            </a:r>
          </a:p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2    0     0      0       0      0      0      1      0     0     0     0     0    0     1      0     0</a:t>
            </a:r>
          </a:p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3    0     1       0       0      0      0      0     1      0      0    0     0     1     0     0     0</a:t>
            </a:r>
          </a:p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4    0     0      1        0      0      0      0     0     1       0     0     0    0    0     0      1</a:t>
            </a:r>
          </a:p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5    0     0      0       1       0      0      0     0     0       1      0    0    0     0     1      0</a:t>
            </a:r>
          </a:p>
          <a:p>
            <a:pPr algn="l">
              <a:lnSpc>
                <a:spcPts val="3446"/>
              </a:lnSpc>
            </a:pPr>
            <a:r>
              <a:rPr lang="en-US" sz="302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Slot 6    0     0      0       0      1       0      0     0     0      0      1     0    0     0    0      0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5433" y="8635639"/>
            <a:ext cx="11447971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3499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 = Nod</a:t>
            </a:r>
            <a:r>
              <a:rPr lang="en-US" b="true" sz="34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 transmits | 0 = Node does not transmit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102" y="-1842148"/>
            <a:ext cx="18674204" cy="6164198"/>
            <a:chOff x="0" y="0"/>
            <a:chExt cx="4918309" cy="1623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57133" y="694906"/>
            <a:ext cx="11336835" cy="110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Verification &amp; Re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34888" y="6112055"/>
            <a:ext cx="14114112" cy="197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71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371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patial Reuse: Enabled</a:t>
            </a:r>
          </a:p>
          <a:p>
            <a:pPr algn="l">
              <a:lnSpc>
                <a:spcPts val="4233"/>
              </a:lnSpc>
            </a:pPr>
            <a:r>
              <a:rPr lang="en-US" sz="371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Visual</a:t>
            </a:r>
          </a:p>
          <a:p>
            <a:pPr algn="l">
              <a:lnSpc>
                <a:spcPts val="699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66155" y="4458338"/>
            <a:ext cx="8741619" cy="118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899" b="true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</a:t>
            </a:r>
            <a:r>
              <a:rPr lang="en-US" b="true" sz="38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CCESS: No scheduling conflicts found.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500107" y="2720466"/>
            <a:ext cx="8436850" cy="7780607"/>
            <a:chOff x="0" y="0"/>
            <a:chExt cx="2222051" cy="20492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2051" cy="2049213"/>
            </a:xfrm>
            <a:custGeom>
              <a:avLst/>
              <a:gdLst/>
              <a:ahLst/>
              <a:cxnLst/>
              <a:rect r="r" b="b" t="t" l="l"/>
              <a:pathLst>
                <a:path h="2049213" w="2222051">
                  <a:moveTo>
                    <a:pt x="0" y="0"/>
                  </a:moveTo>
                  <a:lnTo>
                    <a:pt x="2222051" y="0"/>
                  </a:lnTo>
                  <a:lnTo>
                    <a:pt x="2222051" y="2049213"/>
                  </a:lnTo>
                  <a:lnTo>
                    <a:pt x="0" y="2049213"/>
                  </a:lnTo>
                  <a:close/>
                </a:path>
              </a:pathLst>
            </a:custGeom>
            <a:solidFill>
              <a:srgbClr val="4DD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222051" cy="203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09826" y="3724409"/>
            <a:ext cx="7494707" cy="495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</a:pP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Large numb</a:t>
            </a: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ers:</a:t>
            </a:r>
          </a:p>
          <a:p>
            <a:pPr algn="l">
              <a:lnSpc>
                <a:spcPts val="4886"/>
              </a:lnSpc>
            </a:pPr>
          </a:p>
          <a:p>
            <a:pPr algn="l">
              <a:lnSpc>
                <a:spcPts val="4886"/>
              </a:lnSpc>
            </a:pP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16 Nodes</a:t>
            </a:r>
          </a:p>
          <a:p>
            <a:pPr algn="l">
              <a:lnSpc>
                <a:spcPts val="4886"/>
              </a:lnSpc>
            </a:pP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31 Communication Links</a:t>
            </a:r>
          </a:p>
          <a:p>
            <a:pPr algn="l">
              <a:lnSpc>
                <a:spcPts val="4886"/>
              </a:lnSpc>
            </a:pP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59 Conflict Links</a:t>
            </a:r>
          </a:p>
          <a:p>
            <a:pPr algn="l">
              <a:lnSpc>
                <a:spcPts val="4886"/>
              </a:lnSpc>
            </a:pP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6 TDMA Slots</a:t>
            </a:r>
          </a:p>
          <a:p>
            <a:pPr algn="l">
              <a:lnSpc>
                <a:spcPts val="4886"/>
              </a:lnSpc>
            </a:pPr>
            <a:r>
              <a:rPr lang="en-US" sz="42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2.67 Average Nodes/Slot</a:t>
            </a:r>
          </a:p>
          <a:p>
            <a:pPr algn="l">
              <a:lnSpc>
                <a:spcPts val="488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09952" y="5255500"/>
            <a:ext cx="17283424" cy="4391798"/>
            <a:chOff x="0" y="0"/>
            <a:chExt cx="4552013" cy="1156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013" cy="1156688"/>
            </a:xfrm>
            <a:custGeom>
              <a:avLst/>
              <a:gdLst/>
              <a:ahLst/>
              <a:cxnLst/>
              <a:rect r="r" b="b" t="t" l="l"/>
              <a:pathLst>
                <a:path h="1156688" w="4552013">
                  <a:moveTo>
                    <a:pt x="0" y="0"/>
                  </a:moveTo>
                  <a:lnTo>
                    <a:pt x="4552013" y="0"/>
                  </a:lnTo>
                  <a:lnTo>
                    <a:pt x="4552013" y="1156688"/>
                  </a:lnTo>
                  <a:lnTo>
                    <a:pt x="0" y="1156688"/>
                  </a:lnTo>
                  <a:close/>
                </a:path>
              </a:pathLst>
            </a:custGeom>
            <a:solidFill>
              <a:srgbClr val="4DD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552013" cy="1147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07528" y="40308"/>
            <a:ext cx="6773574" cy="9606991"/>
            <a:chOff x="0" y="0"/>
            <a:chExt cx="1049404" cy="1488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9404" cy="1488374"/>
            </a:xfrm>
            <a:custGeom>
              <a:avLst/>
              <a:gdLst/>
              <a:ahLst/>
              <a:cxnLst/>
              <a:rect r="r" b="b" t="t" l="l"/>
              <a:pathLst>
                <a:path h="1488374" w="1049404">
                  <a:moveTo>
                    <a:pt x="0" y="0"/>
                  </a:moveTo>
                  <a:lnTo>
                    <a:pt x="1049404" y="0"/>
                  </a:lnTo>
                  <a:lnTo>
                    <a:pt x="1049404" y="1488374"/>
                  </a:lnTo>
                  <a:lnTo>
                    <a:pt x="0" y="1488374"/>
                  </a:lnTo>
                  <a:close/>
                </a:path>
              </a:pathLst>
            </a:custGeom>
            <a:blipFill>
              <a:blip r:embed="rId2"/>
              <a:stretch>
                <a:fillRect l="-56276" t="0" r="-562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93102" y="-1842148"/>
            <a:ext cx="18674204" cy="6164198"/>
            <a:chOff x="0" y="0"/>
            <a:chExt cx="4918309" cy="1623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088901" y="7139098"/>
            <a:ext cx="624602" cy="624602"/>
          </a:xfrm>
          <a:custGeom>
            <a:avLst/>
            <a:gdLst/>
            <a:ahLst/>
            <a:cxnLst/>
            <a:rect r="r" b="b" t="t" l="l"/>
            <a:pathLst>
              <a:path h="624602" w="624602">
                <a:moveTo>
                  <a:pt x="0" y="0"/>
                </a:moveTo>
                <a:lnTo>
                  <a:pt x="624602" y="0"/>
                </a:lnTo>
                <a:lnTo>
                  <a:pt x="624602" y="624602"/>
                </a:lnTo>
                <a:lnTo>
                  <a:pt x="0" y="624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427578"/>
            <a:ext cx="10997501" cy="110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72034"/>
            <a:ext cx="10407287" cy="93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30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Successfully implemented a centralized TDMA Schedule Optimizer using Python and NetworkX.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741" y="5425420"/>
            <a:ext cx="4860048" cy="444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191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Buil</a:t>
            </a:r>
            <a:r>
              <a:rPr lang="en-US" b="true" sz="27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 communication and distance-2 conflict graphs</a:t>
            </a:r>
          </a:p>
          <a:p>
            <a:pPr algn="l" marL="604519" indent="-302260" lvl="1">
              <a:lnSpc>
                <a:spcPts val="3191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Applied multiple greedy graph-coloring strategies</a:t>
            </a:r>
          </a:p>
          <a:p>
            <a:pPr algn="l" marL="604519" indent="-302260" lvl="1">
              <a:lnSpc>
                <a:spcPts val="3191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Generated a conflict-free 6-slot schedule</a:t>
            </a:r>
          </a:p>
          <a:p>
            <a:pPr algn="l" marL="604519" indent="-302260" lvl="1">
              <a:lnSpc>
                <a:spcPts val="3191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Verified the schedule automatically</a:t>
            </a:r>
          </a:p>
          <a:p>
            <a:pPr algn="l">
              <a:lnSpc>
                <a:spcPts val="319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08058" y="7252924"/>
            <a:ext cx="4860048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7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Gi</a:t>
            </a:r>
            <a:r>
              <a:rPr lang="en-US" sz="27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tHub 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88901" y="7928792"/>
            <a:ext cx="3928703" cy="59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b="true" sz="2199" u="sng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  <a:hlinkClick r:id="rId5" tooltip="https://github.com/Aslesha584/VMN-TDMA-Optimizer"/>
              </a:rPr>
              <a:t>https://github.com/Aslesha584/VMN-TDMA-Optimizer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0728" y="5440529"/>
            <a:ext cx="15477592" cy="5616707"/>
            <a:chOff x="0" y="0"/>
            <a:chExt cx="1728293" cy="6271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8293" cy="627185"/>
            </a:xfrm>
            <a:custGeom>
              <a:avLst/>
              <a:gdLst/>
              <a:ahLst/>
              <a:cxnLst/>
              <a:rect r="r" b="b" t="t" l="l"/>
              <a:pathLst>
                <a:path h="627185" w="1728293">
                  <a:moveTo>
                    <a:pt x="203200" y="0"/>
                  </a:moveTo>
                  <a:lnTo>
                    <a:pt x="1728293" y="0"/>
                  </a:lnTo>
                  <a:lnTo>
                    <a:pt x="1525092" y="627185"/>
                  </a:lnTo>
                  <a:lnTo>
                    <a:pt x="0" y="62718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41937" r="0" b="-41937"/>
              </a:stretch>
            </a:blipFill>
            <a:ln w="276225" cap="sq">
              <a:solidFill>
                <a:srgbClr val="4DD8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596045" y="-999757"/>
            <a:ext cx="12325141" cy="5321807"/>
            <a:chOff x="0" y="0"/>
            <a:chExt cx="1452541" cy="6271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2541" cy="627185"/>
            </a:xfrm>
            <a:custGeom>
              <a:avLst/>
              <a:gdLst/>
              <a:ahLst/>
              <a:cxnLst/>
              <a:rect r="r" b="b" t="t" l="l"/>
              <a:pathLst>
                <a:path h="627185" w="1452541">
                  <a:moveTo>
                    <a:pt x="203200" y="0"/>
                  </a:moveTo>
                  <a:lnTo>
                    <a:pt x="1452541" y="0"/>
                  </a:lnTo>
                  <a:lnTo>
                    <a:pt x="1249341" y="627185"/>
                  </a:lnTo>
                  <a:lnTo>
                    <a:pt x="0" y="62718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0" t="-27198" r="0" b="-27198"/>
              </a:stretch>
            </a:blipFill>
            <a:ln w="276225" cap="sq">
              <a:solidFill>
                <a:srgbClr val="4DD8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193102" y="-2239215"/>
            <a:ext cx="18674204" cy="6164198"/>
            <a:chOff x="0" y="0"/>
            <a:chExt cx="4918309" cy="16234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8309" cy="1623492"/>
            </a:xfrm>
            <a:custGeom>
              <a:avLst/>
              <a:gdLst/>
              <a:ahLst/>
              <a:cxnLst/>
              <a:rect r="r" b="b" t="t" l="l"/>
              <a:pathLst>
                <a:path h="1623492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623492"/>
                  </a:lnTo>
                  <a:lnTo>
                    <a:pt x="0" y="1623492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4918309" cy="161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6239696"/>
            <a:ext cx="6521867" cy="110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7"/>
              </a:lnSpc>
            </a:pPr>
            <a:r>
              <a:rPr lang="en-US" sz="770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</a:t>
            </a:r>
            <a:r>
              <a:rPr lang="en-US" b="true" sz="770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573295"/>
            <a:ext cx="6143458" cy="133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elit, sed do eiusmod tempor incididunt ut labore et dolore magna aliqua. Ut enim ad minim veniam, quis nostrud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9096" y="1468988"/>
            <a:ext cx="7957259" cy="100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29096" y="3725955"/>
            <a:ext cx="7957259" cy="100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3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9096" y="823834"/>
            <a:ext cx="5590625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b="true" sz="27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Opportunities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9096" y="3080801"/>
            <a:ext cx="5590625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b="true" sz="2799">
                <a:solidFill>
                  <a:srgbClr val="4DD8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Emerging Challenges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28700" y="4895760"/>
            <a:ext cx="495480" cy="495480"/>
          </a:xfrm>
          <a:custGeom>
            <a:avLst/>
            <a:gdLst/>
            <a:ahLst/>
            <a:cxnLst/>
            <a:rect r="r" b="b" t="t" l="l"/>
            <a:pathLst>
              <a:path h="495480" w="495480">
                <a:moveTo>
                  <a:pt x="0" y="0"/>
                </a:moveTo>
                <a:lnTo>
                  <a:pt x="495480" y="0"/>
                </a:lnTo>
                <a:lnTo>
                  <a:pt x="495480" y="495480"/>
                </a:lnTo>
                <a:lnTo>
                  <a:pt x="0" y="495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80793" y="-312319"/>
            <a:ext cx="13060289" cy="11129425"/>
            <a:chOff x="0" y="0"/>
            <a:chExt cx="735996" cy="6271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5996" cy="627185"/>
            </a:xfrm>
            <a:custGeom>
              <a:avLst/>
              <a:gdLst/>
              <a:ahLst/>
              <a:cxnLst/>
              <a:rect r="r" b="b" t="t" l="l"/>
              <a:pathLst>
                <a:path h="627185" w="735996">
                  <a:moveTo>
                    <a:pt x="203200" y="0"/>
                  </a:moveTo>
                  <a:lnTo>
                    <a:pt x="735996" y="0"/>
                  </a:lnTo>
                  <a:lnTo>
                    <a:pt x="532796" y="627185"/>
                  </a:lnTo>
                  <a:lnTo>
                    <a:pt x="0" y="62718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23199" t="0" r="-2829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93102" y="-312319"/>
            <a:ext cx="18674204" cy="4634369"/>
            <a:chOff x="0" y="0"/>
            <a:chExt cx="4918309" cy="12205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8309" cy="1220574"/>
            </a:xfrm>
            <a:custGeom>
              <a:avLst/>
              <a:gdLst/>
              <a:ahLst/>
              <a:cxnLst/>
              <a:rect r="r" b="b" t="t" l="l"/>
              <a:pathLst>
                <a:path h="1220574" w="4918309">
                  <a:moveTo>
                    <a:pt x="0" y="0"/>
                  </a:moveTo>
                  <a:lnTo>
                    <a:pt x="4918309" y="0"/>
                  </a:lnTo>
                  <a:lnTo>
                    <a:pt x="4918309" y="1220574"/>
                  </a:lnTo>
                  <a:lnTo>
                    <a:pt x="0" y="1220574"/>
                  </a:lnTo>
                  <a:close/>
                </a:path>
              </a:pathLst>
            </a:custGeom>
            <a:gradFill rotWithShape="true">
              <a:gsLst>
                <a:gs pos="0">
                  <a:srgbClr val="4DD8FF">
                    <a:alpha val="68000"/>
                  </a:srgbClr>
                </a:gs>
                <a:gs pos="100000">
                  <a:srgbClr val="0A1921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918309" cy="1211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054681">
            <a:off x="10456373" y="-512962"/>
            <a:ext cx="476391" cy="11675289"/>
            <a:chOff x="0" y="0"/>
            <a:chExt cx="125469" cy="30749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69" cy="3074973"/>
            </a:xfrm>
            <a:custGeom>
              <a:avLst/>
              <a:gdLst/>
              <a:ahLst/>
              <a:cxnLst/>
              <a:rect r="r" b="b" t="t" l="l"/>
              <a:pathLst>
                <a:path h="3074973" w="125469">
                  <a:moveTo>
                    <a:pt x="0" y="0"/>
                  </a:moveTo>
                  <a:lnTo>
                    <a:pt x="125469" y="0"/>
                  </a:lnTo>
                  <a:lnTo>
                    <a:pt x="125469" y="3074973"/>
                  </a:lnTo>
                  <a:lnTo>
                    <a:pt x="0" y="3074973"/>
                  </a:lnTo>
                  <a:close/>
                </a:path>
              </a:pathLst>
            </a:custGeom>
            <a:solidFill>
              <a:srgbClr val="4DD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25469" cy="3065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3237" y="6392783"/>
            <a:ext cx="18354474" cy="3935076"/>
            <a:chOff x="0" y="0"/>
            <a:chExt cx="2843373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3373" cy="609600"/>
            </a:xfrm>
            <a:custGeom>
              <a:avLst/>
              <a:gdLst/>
              <a:ahLst/>
              <a:cxnLst/>
              <a:rect r="r" b="b" t="t" l="l"/>
              <a:pathLst>
                <a:path h="609600" w="2843373">
                  <a:moveTo>
                    <a:pt x="2640173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843373" y="609600"/>
                  </a:lnTo>
                  <a:lnTo>
                    <a:pt x="2640173" y="0"/>
                  </a:lnTo>
                  <a:close/>
                </a:path>
              </a:pathLst>
            </a:custGeom>
            <a:solidFill>
              <a:srgbClr val="0B262E"/>
            </a:solidFill>
            <a:ln w="180975" cap="sq">
              <a:solidFill>
                <a:srgbClr val="4DD8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9525"/>
              <a:ext cx="2640173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88504" y="2807428"/>
            <a:ext cx="10452946" cy="195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8"/>
              </a:lnSpc>
            </a:pPr>
            <a:r>
              <a:rPr lang="en-US" sz="13592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6440" y="7428756"/>
            <a:ext cx="5571252" cy="50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Contact Information 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717154" y="8721912"/>
            <a:ext cx="5536757" cy="630191"/>
            <a:chOff x="0" y="0"/>
            <a:chExt cx="7382343" cy="8402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2346" cy="802346"/>
            </a:xfrm>
            <a:custGeom>
              <a:avLst/>
              <a:gdLst/>
              <a:ahLst/>
              <a:cxnLst/>
              <a:rect r="r" b="b" t="t" l="l"/>
              <a:pathLst>
                <a:path h="802346" w="802346">
                  <a:moveTo>
                    <a:pt x="0" y="0"/>
                  </a:moveTo>
                  <a:lnTo>
                    <a:pt x="802346" y="0"/>
                  </a:lnTo>
                  <a:lnTo>
                    <a:pt x="802346" y="802346"/>
                  </a:lnTo>
                  <a:lnTo>
                    <a:pt x="0" y="802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038221" y="13089"/>
              <a:ext cx="5010035" cy="38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35"/>
                </a:lnSpc>
              </a:pPr>
              <a:r>
                <a:rPr lang="en-US" sz="1916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Email 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38221" y="410698"/>
              <a:ext cx="6344122" cy="429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1"/>
                </a:lnSpc>
              </a:pPr>
              <a:r>
                <a:rPr lang="en-US" sz="21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sit24co004@sairamtap.edu.in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DAHWKBKpoM0</dc:identifier>
  <dcterms:modified xsi:type="dcterms:W3CDTF">2011-08-01T06:04:30Z</dcterms:modified>
  <cp:revision>1</cp:revision>
  <dc:title>Blue and Black Modern Futuristic Internet of Things Presentation</dc:title>
</cp:coreProperties>
</file>